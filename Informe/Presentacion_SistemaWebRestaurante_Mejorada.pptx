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B9DFD392-AF76-F3D2-B08E-340F3FF5468E}">
          <p14:sldIdLst>
            <p14:sldId id="256"/>
          </p14:sldIdLst>
        </p14:section>
        <p14:section name="Contexto" id="{CF98ACED-AF72-0AE0-2BB4-F01BBD2F1847}">
          <p14:sldIdLst>
            <p14:sldId id="257"/>
            <p14:sldId id="258"/>
            <p14:sldId id="259"/>
            <p14:sldId id="260"/>
          </p14:sldIdLst>
        </p14:section>
        <p14:section name="Arquitectura" id="{B8F28DB9-9F1F-945A-F6EE-83A4774DE267}">
          <p14:sldIdLst>
            <p14:sldId id="261"/>
            <p14:sldId id="262"/>
            <p14:sldId id="263"/>
          </p14:sldIdLst>
        </p14:section>
        <p14:section name="Interfaces" id="{E9F96853-99CF-9442-8A8E-658EC2DA4B5B}">
          <p14:sldIdLst>
            <p14:sldId id="264"/>
            <p14:sldId id="265"/>
          </p14:sldIdLst>
        </p14:section>
        <p14:section name="Despliegue y cierre" id="{FDB67301-03C8-472F-4CBD-BEE8341BD3C9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247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decor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097280"/>
            <a:ext cx="68580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decor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decor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4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CIBERTEC · DESARROLLO DE APLICACIONES WEB II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09728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Sistema web para la gestión de pedidos, mesas y comprobantes de pago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Proyecto académico | Ciclo sexto · Aula E304 · Semestre II</a:t>
            </a:r>
            <a:endParaRPr lang="en-US" sz="1800" dirty="0"/>
          </a:p>
        </p:txBody>
      </p:sp>
      <p:sp>
        <p:nvSpPr>
          <p:cNvPr id="5" name="Panel integrantes"/>
          <p:cNvSpPr/>
          <p:nvPr/>
        </p:nvSpPr>
        <p:spPr>
          <a:xfrm>
            <a:off x="731520" y="4023360"/>
            <a:ext cx="7498080" cy="1188720"/>
          </a:xfrm>
          <a:prstGeom prst="roundRect">
            <a:avLst>
              <a:gd name="adj" fmla="val 10769"/>
            </a:avLst>
          </a:prstGeom>
          <a:solidFill>
            <a:schemeClr val="bg1">
              <a:alpha val="14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41605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Integrantes: </a:t>
            </a:r>
            <a:r>
              <a:rPr lang="en-US" sz="1500" dirty="0">
                <a:solidFill>
                  <a:schemeClr val="bg1"/>
                </a:solidFill>
              </a:rPr>
              <a:t>Nick Fernando Rodriguez Contreras · César Augusto Chicana Poclín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Josue Javier Cruz Flores · Carlos Yoel Boyd Caballero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44068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Coordinador: </a:t>
            </a:r>
            <a:r>
              <a:rPr lang="en-US" sz="1400" dirty="0">
                <a:solidFill>
                  <a:schemeClr val="bg2"/>
                </a:solidFill>
              </a:rPr>
              <a:t>Nick Fernando Rodriguez Contreras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Docente: </a:t>
            </a:r>
            <a:r>
              <a:rPr lang="en-US" sz="1400" dirty="0">
                <a:solidFill>
                  <a:schemeClr val="bg2"/>
                </a:solidFill>
              </a:rPr>
              <a:t>Yovani Edy Quinteros Camapaza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Lima, octubre de 2026</a:t>
            </a:r>
            <a:endParaRPr lang="en-US" sz="1400" dirty="0"/>
          </a:p>
        </p:txBody>
      </p:sp>
      <p:sp>
        <p:nvSpPr>
          <p:cNvPr id="8" name="Tarjeta logo"/>
          <p:cNvSpPr/>
          <p:nvPr/>
        </p:nvSpPr>
        <p:spPr>
          <a:xfrm>
            <a:off x="9326880" y="2423160"/>
            <a:ext cx="2560320" cy="201168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pic>
        <p:nvPicPr>
          <p:cNvPr id="9" name="Logo Cibertec" descr="Logo de Ciberte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679192"/>
            <a:ext cx="2011680" cy="1499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02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Problemática del restaurante</a:t>
            </a:r>
            <a:endParaRPr lang="en-US" sz="3400" dirty="0"/>
          </a:p>
        </p:txBody>
      </p:sp>
      <p:sp>
        <p:nvSpPr>
          <p:cNvPr id="8" name="Tarjeta Comandas manuales"/>
          <p:cNvSpPr/>
          <p:nvPr/>
        </p:nvSpPr>
        <p:spPr>
          <a:xfrm>
            <a:off x="640080" y="1920240"/>
            <a:ext cx="5852160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9" name="Ícono Comandas manuales fondo"/>
          <p:cNvSpPr/>
          <p:nvPr/>
        </p:nvSpPr>
        <p:spPr>
          <a:xfrm>
            <a:off x="914400" y="212140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Ícono Comandas manuales" descr="Ícono no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229514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Comandas manuales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828800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Errores y pérdida de información</a:t>
            </a:r>
            <a:endParaRPr lang="en-US" sz="1500" dirty="0"/>
          </a:p>
        </p:txBody>
      </p:sp>
      <p:sp>
        <p:nvSpPr>
          <p:cNvPr id="13" name="Tarjeta Procesos desconectados"/>
          <p:cNvSpPr/>
          <p:nvPr/>
        </p:nvSpPr>
        <p:spPr>
          <a:xfrm>
            <a:off x="640080" y="3200400"/>
            <a:ext cx="5852160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4" name="Ícono Procesos desconectados fondo"/>
          <p:cNvSpPr/>
          <p:nvPr/>
        </p:nvSpPr>
        <p:spPr>
          <a:xfrm>
            <a:off x="914400" y="3401568"/>
            <a:ext cx="694944" cy="69494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Ícono Procesos desconectados" descr="Ícono unlin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357530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2880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Procesos desconectados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Demoras entre sala, cocina y caja</a:t>
            </a:r>
            <a:endParaRPr lang="en-US" sz="1500" dirty="0"/>
          </a:p>
        </p:txBody>
      </p:sp>
      <p:sp>
        <p:nvSpPr>
          <p:cNvPr id="18" name="Tarjeta Control limitado"/>
          <p:cNvSpPr/>
          <p:nvPr/>
        </p:nvSpPr>
        <p:spPr>
          <a:xfrm>
            <a:off x="640080" y="4480560"/>
            <a:ext cx="5852160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9" name="Ícono Control limitado fondo"/>
          <p:cNvSpPr/>
          <p:nvPr/>
        </p:nvSpPr>
        <p:spPr>
          <a:xfrm>
            <a:off x="914400" y="4681728"/>
            <a:ext cx="694944" cy="69494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Ícono Control limitado" descr="Ícono ch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485546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828800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Control limitado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1828800" y="5074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Dificultad para consultar mesas y ventas</a:t>
            </a:r>
            <a:endParaRPr lang="en-US" sz="1500" dirty="0"/>
          </a:p>
        </p:txBody>
      </p:sp>
      <p:sp>
        <p:nvSpPr>
          <p:cNvPr id="23" name="Tarjeta diagrama"/>
          <p:cNvSpPr/>
          <p:nvPr/>
        </p:nvSpPr>
        <p:spPr>
          <a:xfrm>
            <a:off x="6812280" y="2514600"/>
            <a:ext cx="4754880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pic>
        <p:nvPicPr>
          <p:cNvPr id="24" name="Diagrama problemática" descr="Diagrama de la problemática: sala, cocina y caja desconectada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2697480"/>
            <a:ext cx="4389120" cy="1843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03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¿De qué trata el proyecto?</a:t>
            </a:r>
            <a:endParaRPr lang="en-US" sz="3400" dirty="0"/>
          </a:p>
        </p:txBody>
      </p:sp>
      <p:sp>
        <p:nvSpPr>
          <p:cNvPr id="8" name="Banner idea"/>
          <p:cNvSpPr/>
          <p:nvPr/>
        </p:nvSpPr>
        <p:spPr>
          <a:xfrm>
            <a:off x="640080" y="1920240"/>
            <a:ext cx="10908792" cy="9601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192024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Una plataforma web que conecta la operación diaria del restaurante.</a:t>
            </a:r>
            <a:endParaRPr lang="en-US" sz="2400" dirty="0"/>
          </a:p>
        </p:txBody>
      </p:sp>
      <p:sp>
        <p:nvSpPr>
          <p:cNvPr id="10" name="Tarjeta Registrar"/>
          <p:cNvSpPr/>
          <p:nvPr/>
        </p:nvSpPr>
        <p:spPr>
          <a:xfrm>
            <a:off x="640080" y="3200400"/>
            <a:ext cx="3419856" cy="2514600"/>
          </a:xfrm>
          <a:prstGeom prst="roundRect">
            <a:avLst>
              <a:gd name="adj" fmla="val 5091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1" name="Ícono Registrar fondo"/>
          <p:cNvSpPr/>
          <p:nvPr/>
        </p:nvSpPr>
        <p:spPr>
          <a:xfrm>
            <a:off x="1005840" y="35204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Ícono Registrar" descr="Ícono cli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010" y="373761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05840" y="4572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Registrar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Pedidos y ocupación de mesas</a:t>
            </a:r>
            <a:endParaRPr lang="en-US" sz="1600" dirty="0"/>
          </a:p>
        </p:txBody>
      </p:sp>
      <p:sp>
        <p:nvSpPr>
          <p:cNvPr id="15" name="Tarjeta Coordinar"/>
          <p:cNvSpPr/>
          <p:nvPr/>
        </p:nvSpPr>
        <p:spPr>
          <a:xfrm>
            <a:off x="4384548" y="3200400"/>
            <a:ext cx="3419856" cy="2514600"/>
          </a:xfrm>
          <a:prstGeom prst="roundRect">
            <a:avLst>
              <a:gd name="adj" fmla="val 5091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6" name="Ícono Coordinar fondo"/>
          <p:cNvSpPr/>
          <p:nvPr/>
        </p:nvSpPr>
        <p:spPr>
          <a:xfrm>
            <a:off x="4750308" y="352044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Ícono Coordinar" descr="Ícono fi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478" y="373761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0308" y="4572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Coordinar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4750308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Preparación en cocina</a:t>
            </a:r>
            <a:endParaRPr lang="en-US" sz="1600" dirty="0"/>
          </a:p>
        </p:txBody>
      </p:sp>
      <p:sp>
        <p:nvSpPr>
          <p:cNvPr id="20" name="Tarjeta Cobrar"/>
          <p:cNvSpPr/>
          <p:nvPr/>
        </p:nvSpPr>
        <p:spPr>
          <a:xfrm>
            <a:off x="8129016" y="3200400"/>
            <a:ext cx="3419856" cy="2514600"/>
          </a:xfrm>
          <a:prstGeom prst="roundRect">
            <a:avLst>
              <a:gd name="adj" fmla="val 5091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21" name="Ícono Cobrar fondo"/>
          <p:cNvSpPr/>
          <p:nvPr/>
        </p:nvSpPr>
        <p:spPr>
          <a:xfrm>
            <a:off x="8494776" y="352044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Ícono Cobrar" descr="Ícono cas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1946" y="3737610"/>
            <a:ext cx="434340" cy="4343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494776" y="4572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Cobrar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8494776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Importes, comprobantes e historial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04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Flujo principal de atención</a:t>
            </a:r>
            <a:endParaRPr lang="en-US" sz="3400" dirty="0"/>
          </a:p>
        </p:txBody>
      </p:sp>
      <p:sp>
        <p:nvSpPr>
          <p:cNvPr id="8" name="Tarjeta MESERO"/>
          <p:cNvSpPr/>
          <p:nvPr/>
        </p:nvSpPr>
        <p:spPr>
          <a:xfrm>
            <a:off x="640080" y="1965960"/>
            <a:ext cx="2542032" cy="2651760"/>
          </a:xfrm>
          <a:prstGeom prst="roundRect">
            <a:avLst>
              <a:gd name="adj" fmla="val 503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9" name="Ícono MESERO fondo"/>
          <p:cNvSpPr/>
          <p:nvPr/>
        </p:nvSpPr>
        <p:spPr>
          <a:xfrm>
            <a:off x="914400" y="22860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Ícono MESERO" descr="Ícono be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250317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MESERO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Registra pedido</a:t>
            </a:r>
            <a:endParaRPr lang="en-US" sz="1500" dirty="0"/>
          </a:p>
        </p:txBody>
      </p:sp>
      <p:sp>
        <p:nvSpPr>
          <p:cNvPr id="13" name="Flecha flujo 1"/>
          <p:cNvSpPr/>
          <p:nvPr/>
        </p:nvSpPr>
        <p:spPr>
          <a:xfrm rot="5400000">
            <a:off x="3209544" y="3154680"/>
            <a:ext cx="192024" cy="219456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14" name="Tarjeta COCINA"/>
          <p:cNvSpPr/>
          <p:nvPr/>
        </p:nvSpPr>
        <p:spPr>
          <a:xfrm>
            <a:off x="3429000" y="1965960"/>
            <a:ext cx="2542032" cy="2651760"/>
          </a:xfrm>
          <a:prstGeom prst="roundRect">
            <a:avLst>
              <a:gd name="adj" fmla="val 503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5" name="Ícono COCINA fondo"/>
          <p:cNvSpPr/>
          <p:nvPr/>
        </p:nvSpPr>
        <p:spPr>
          <a:xfrm>
            <a:off x="3703320" y="228600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Ícono COCINA" descr="Ícono fi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0490" y="250317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0332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COCINA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370332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Prepara y actualiza</a:t>
            </a:r>
            <a:endParaRPr lang="en-US" sz="1500" dirty="0"/>
          </a:p>
        </p:txBody>
      </p:sp>
      <p:sp>
        <p:nvSpPr>
          <p:cNvPr id="19" name="Flecha flujo 2"/>
          <p:cNvSpPr/>
          <p:nvPr/>
        </p:nvSpPr>
        <p:spPr>
          <a:xfrm rot="5400000">
            <a:off x="5998464" y="3154680"/>
            <a:ext cx="192024" cy="219456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20" name="Tarjeta CAJA"/>
          <p:cNvSpPr/>
          <p:nvPr/>
        </p:nvSpPr>
        <p:spPr>
          <a:xfrm>
            <a:off x="6217920" y="1965960"/>
            <a:ext cx="2542032" cy="2651760"/>
          </a:xfrm>
          <a:prstGeom prst="roundRect">
            <a:avLst>
              <a:gd name="adj" fmla="val 503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21" name="Ícono CAJA fondo"/>
          <p:cNvSpPr/>
          <p:nvPr/>
        </p:nvSpPr>
        <p:spPr>
          <a:xfrm>
            <a:off x="6492240" y="228600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Ícono CAJA" descr="Ícono cas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9410" y="2503170"/>
            <a:ext cx="434340" cy="4343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9224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CAJA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Cobra y emite</a:t>
            </a:r>
            <a:endParaRPr lang="en-US" sz="1500" dirty="0"/>
          </a:p>
        </p:txBody>
      </p:sp>
      <p:sp>
        <p:nvSpPr>
          <p:cNvPr id="25" name="Flecha flujo 3"/>
          <p:cNvSpPr/>
          <p:nvPr/>
        </p:nvSpPr>
        <p:spPr>
          <a:xfrm rot="5400000">
            <a:off x="8787384" y="3154680"/>
            <a:ext cx="192024" cy="219456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26" name="Tarjeta ADMINISTRACIÓN"/>
          <p:cNvSpPr/>
          <p:nvPr/>
        </p:nvSpPr>
        <p:spPr>
          <a:xfrm>
            <a:off x="9006840" y="1965960"/>
            <a:ext cx="2542032" cy="2651760"/>
          </a:xfrm>
          <a:prstGeom prst="roundRect">
            <a:avLst>
              <a:gd name="adj" fmla="val 503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27" name="Ícono ADMINISTRACIÓN fondo"/>
          <p:cNvSpPr/>
          <p:nvPr/>
        </p:nvSpPr>
        <p:spPr>
          <a:xfrm>
            <a:off x="9281160" y="228600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8" name="Ícono ADMINISTRACIÓN" descr="Ícono shiel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8330" y="2503170"/>
            <a:ext cx="434340" cy="4343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28116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ADMINISTRACIÓN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928116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Supervisa operaciones</a:t>
            </a:r>
            <a:endParaRPr lang="en-US" sz="1500" dirty="0"/>
          </a:p>
        </p:txBody>
      </p:sp>
      <p:sp>
        <p:nvSpPr>
          <p:cNvPr id="31" name="Banner flujo"/>
          <p:cNvSpPr/>
          <p:nvPr/>
        </p:nvSpPr>
        <p:spPr>
          <a:xfrm>
            <a:off x="640080" y="4937760"/>
            <a:ext cx="10058400" cy="8229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32" name="Ícono banner fondo"/>
          <p:cNvSpPr/>
          <p:nvPr/>
        </p:nvSpPr>
        <p:spPr>
          <a:xfrm>
            <a:off x="868680" y="5029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Ícono banner" descr="Ícono use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518922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737360" y="4937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Información compartida y acceso diferenciado por roles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05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Metodología de trabajo: Scrum</a:t>
            </a:r>
            <a:endParaRPr lang="en-US" sz="3400" dirty="0"/>
          </a:p>
        </p:txBody>
      </p:sp>
      <p:sp>
        <p:nvSpPr>
          <p:cNvPr id="8" name="Tarjeta organigrama"/>
          <p:cNvSpPr/>
          <p:nvPr/>
        </p:nvSpPr>
        <p:spPr>
          <a:xfrm>
            <a:off x="640080" y="2331720"/>
            <a:ext cx="5577840" cy="2743200"/>
          </a:xfrm>
          <a:prstGeom prst="roundRect">
            <a:avLst>
              <a:gd name="adj" fmla="val 466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pic>
        <p:nvPicPr>
          <p:cNvPr id="9" name="Organigrama Scrum" descr="Organigrama del equipo Scrum: cliente, Product Owner, Scrum Master y equipo de desarroll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514600"/>
            <a:ext cx="5212080" cy="2427732"/>
          </a:xfrm>
          <a:prstGeom prst="rect">
            <a:avLst/>
          </a:prstGeom>
        </p:spPr>
      </p:pic>
      <p:sp>
        <p:nvSpPr>
          <p:cNvPr id="10" name="Tarjeta Product Owner"/>
          <p:cNvSpPr/>
          <p:nvPr/>
        </p:nvSpPr>
        <p:spPr>
          <a:xfrm>
            <a:off x="6537960" y="1920240"/>
            <a:ext cx="5010912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1" name="Ícono Product Owner fondo"/>
          <p:cNvSpPr/>
          <p:nvPr/>
        </p:nvSpPr>
        <p:spPr>
          <a:xfrm>
            <a:off x="6766560" y="212140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Ícono Product Owner" descr="Ícono ti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229514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80960" y="2029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Product Owner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7680960" y="2423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Prioriza las necesidades del proyecto</a:t>
            </a:r>
            <a:endParaRPr lang="en-US" sz="1500" dirty="0"/>
          </a:p>
        </p:txBody>
      </p:sp>
      <p:sp>
        <p:nvSpPr>
          <p:cNvPr id="15" name="Tarjeta Scrum Master"/>
          <p:cNvSpPr/>
          <p:nvPr/>
        </p:nvSpPr>
        <p:spPr>
          <a:xfrm>
            <a:off x="6537960" y="3200400"/>
            <a:ext cx="5010912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6" name="Ícono Scrum Master fondo"/>
          <p:cNvSpPr/>
          <p:nvPr/>
        </p:nvSpPr>
        <p:spPr>
          <a:xfrm>
            <a:off x="6766560" y="3401568"/>
            <a:ext cx="694944" cy="69494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Ícono Scrum Master" descr="Ícono syn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357530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80960" y="3310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Scrum Master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7680960" y="3703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Facilita el proceso y la coordinación</a:t>
            </a:r>
            <a:endParaRPr lang="en-US" sz="1500" dirty="0"/>
          </a:p>
        </p:txBody>
      </p:sp>
      <p:sp>
        <p:nvSpPr>
          <p:cNvPr id="20" name="Tarjeta Equipo de desarrollo"/>
          <p:cNvSpPr/>
          <p:nvPr/>
        </p:nvSpPr>
        <p:spPr>
          <a:xfrm>
            <a:off x="6537960" y="4480560"/>
            <a:ext cx="5010912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21" name="Ícono Equipo de desarrollo fondo"/>
          <p:cNvSpPr/>
          <p:nvPr/>
        </p:nvSpPr>
        <p:spPr>
          <a:xfrm>
            <a:off x="6766560" y="4681728"/>
            <a:ext cx="694944" cy="69494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Ícono Equipo de desarrollo" descr="Ícono cod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296" y="4855464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680960" y="4590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Equipo de desarrollo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7680960" y="4983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Backend, frontend, BD, pruebas e infraestructura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06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Tecnologías utilizadas</a:t>
            </a:r>
            <a:endParaRPr lang="en-US" sz="3400" dirty="0"/>
          </a:p>
        </p:txBody>
      </p:sp>
      <p:sp>
        <p:nvSpPr>
          <p:cNvPr id="8" name="Tarjeta Frontend"/>
          <p:cNvSpPr/>
          <p:nvPr/>
        </p:nvSpPr>
        <p:spPr>
          <a:xfrm>
            <a:off x="640080" y="1920240"/>
            <a:ext cx="5321808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9" name="Ícono Frontend fondo"/>
          <p:cNvSpPr/>
          <p:nvPr/>
        </p:nvSpPr>
        <p:spPr>
          <a:xfrm>
            <a:off x="1005840" y="2304288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Ícono Frontend" descr="Ícono angul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255574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33172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2331720" y="28072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Angular · SPA</a:t>
            </a:r>
            <a:endParaRPr lang="en-US" sz="1600" dirty="0"/>
          </a:p>
        </p:txBody>
      </p:sp>
      <p:sp>
        <p:nvSpPr>
          <p:cNvPr id="13" name="Tarjeta Backend"/>
          <p:cNvSpPr/>
          <p:nvPr/>
        </p:nvSpPr>
        <p:spPr>
          <a:xfrm>
            <a:off x="6227064" y="1920240"/>
            <a:ext cx="5321808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4" name="Ícono Backend fondo"/>
          <p:cNvSpPr/>
          <p:nvPr/>
        </p:nvSpPr>
        <p:spPr>
          <a:xfrm>
            <a:off x="6592824" y="2304288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Ícono Backend" descr="Ícono sp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4" y="2555748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918704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Backend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7918704" y="28072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Java 21 · Spring Boot 3.x · API REST</a:t>
            </a:r>
            <a:endParaRPr lang="en-US" sz="1600" dirty="0"/>
          </a:p>
        </p:txBody>
      </p:sp>
      <p:sp>
        <p:nvSpPr>
          <p:cNvPr id="18" name="Tarjeta Datos y seguridad"/>
          <p:cNvSpPr/>
          <p:nvPr/>
        </p:nvSpPr>
        <p:spPr>
          <a:xfrm>
            <a:off x="640080" y="3977640"/>
            <a:ext cx="5321808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9" name="Ícono Datos y seguridad fondo"/>
          <p:cNvSpPr/>
          <p:nvPr/>
        </p:nvSpPr>
        <p:spPr>
          <a:xfrm>
            <a:off x="1005840" y="4361688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Ícono Datos y seguridad" descr="Ícono mysq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613148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31720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Datos y seguridad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2331720" y="48646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MySQL · Spring Data JPA · Spring Security</a:t>
            </a:r>
            <a:endParaRPr lang="en-US" sz="1600" dirty="0"/>
          </a:p>
        </p:txBody>
      </p:sp>
      <p:sp>
        <p:nvSpPr>
          <p:cNvPr id="23" name="Tarjeta Infraestructura"/>
          <p:cNvSpPr/>
          <p:nvPr/>
        </p:nvSpPr>
        <p:spPr>
          <a:xfrm>
            <a:off x="6227064" y="3977640"/>
            <a:ext cx="5321808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24" name="Ícono Infraestructura fondo"/>
          <p:cNvSpPr/>
          <p:nvPr/>
        </p:nvSpPr>
        <p:spPr>
          <a:xfrm>
            <a:off x="6592824" y="4361688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Ícono Infraestructura" descr="Ícono doc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4284" y="4613148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918704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Infraestructura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7918704" y="48646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Docker · Kubernetes · Git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07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Arquitectura general</a:t>
            </a:r>
            <a:endParaRPr lang="en-US" sz="3400" dirty="0"/>
          </a:p>
        </p:txBody>
      </p:sp>
      <p:sp>
        <p:nvSpPr>
          <p:cNvPr id="8" name="Etapa Angular"/>
          <p:cNvSpPr/>
          <p:nvPr/>
        </p:nvSpPr>
        <p:spPr>
          <a:xfrm>
            <a:off x="640080" y="1874520"/>
            <a:ext cx="2103120" cy="7315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Angular</a:t>
            </a:r>
            <a:endParaRPr lang="en-US" sz="2000" dirty="0"/>
          </a:p>
        </p:txBody>
      </p:sp>
      <p:sp>
        <p:nvSpPr>
          <p:cNvPr id="10" name="Flecha arquitectura 1"/>
          <p:cNvSpPr/>
          <p:nvPr/>
        </p:nvSpPr>
        <p:spPr>
          <a:xfrm rot="5400000">
            <a:off x="2871216" y="2130552"/>
            <a:ext cx="192024" cy="219456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11" name="Etapa API Gateway"/>
          <p:cNvSpPr/>
          <p:nvPr/>
        </p:nvSpPr>
        <p:spPr>
          <a:xfrm>
            <a:off x="3200400" y="1874520"/>
            <a:ext cx="2468880" cy="7315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200400" y="1874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API Gateway</a:t>
            </a:r>
            <a:endParaRPr lang="en-US" sz="2000" dirty="0"/>
          </a:p>
        </p:txBody>
      </p:sp>
      <p:sp>
        <p:nvSpPr>
          <p:cNvPr id="13" name="Flecha arquitectura 2"/>
          <p:cNvSpPr/>
          <p:nvPr/>
        </p:nvSpPr>
        <p:spPr>
          <a:xfrm rot="5400000">
            <a:off x="5797296" y="2130552"/>
            <a:ext cx="192024" cy="219456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14" name="Etapa Microservicios"/>
          <p:cNvSpPr/>
          <p:nvPr/>
        </p:nvSpPr>
        <p:spPr>
          <a:xfrm>
            <a:off x="6126480" y="1874520"/>
            <a:ext cx="2743200" cy="7315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126480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Microservicios</a:t>
            </a:r>
            <a:endParaRPr lang="en-US" sz="2000" dirty="0"/>
          </a:p>
        </p:txBody>
      </p:sp>
      <p:sp>
        <p:nvSpPr>
          <p:cNvPr id="16" name="Flecha arquitectura 3"/>
          <p:cNvSpPr/>
          <p:nvPr/>
        </p:nvSpPr>
        <p:spPr>
          <a:xfrm rot="5400000">
            <a:off x="8997696" y="2130552"/>
            <a:ext cx="192024" cy="219456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17" name="Etapa MySQL"/>
          <p:cNvSpPr/>
          <p:nvPr/>
        </p:nvSpPr>
        <p:spPr>
          <a:xfrm>
            <a:off x="9326880" y="1874520"/>
            <a:ext cx="1828800" cy="7315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326880" y="1874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MySQL</a:t>
            </a:r>
            <a:endParaRPr lang="en-US" sz="2000" dirty="0"/>
          </a:p>
        </p:txBody>
      </p:sp>
      <p:sp>
        <p:nvSpPr>
          <p:cNvPr id="19" name="Tarjeta Eureka Server"/>
          <p:cNvSpPr/>
          <p:nvPr/>
        </p:nvSpPr>
        <p:spPr>
          <a:xfrm>
            <a:off x="640080" y="2926080"/>
            <a:ext cx="5852160" cy="89611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20" name="Ícono Eureka Server fondo"/>
          <p:cNvSpPr/>
          <p:nvPr/>
        </p:nvSpPr>
        <p:spPr>
          <a:xfrm>
            <a:off x="841248" y="3081528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Ícono Eureka Server" descr="Ícono 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227832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645920" y="3035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Eureka Server</a:t>
            </a:r>
            <a:endParaRPr lang="en-US" sz="1900" dirty="0"/>
          </a:p>
        </p:txBody>
      </p:sp>
      <p:sp>
        <p:nvSpPr>
          <p:cNvPr id="23" name="Text 19"/>
          <p:cNvSpPr txBox="1"/>
          <p:nvPr/>
        </p:nvSpPr>
        <p:spPr>
          <a:xfrm>
            <a:off x="1645920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Registro y descubrimiento de servicios</a:t>
            </a:r>
            <a:endParaRPr lang="en-US" sz="1500" dirty="0"/>
          </a:p>
        </p:txBody>
      </p:sp>
      <p:sp>
        <p:nvSpPr>
          <p:cNvPr id="24" name="Tarjeta OpenFeign"/>
          <p:cNvSpPr/>
          <p:nvPr/>
        </p:nvSpPr>
        <p:spPr>
          <a:xfrm>
            <a:off x="640080" y="3950208"/>
            <a:ext cx="5852160" cy="89611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25" name="Ícono OpenFeign fondo"/>
          <p:cNvSpPr/>
          <p:nvPr/>
        </p:nvSpPr>
        <p:spPr>
          <a:xfrm>
            <a:off x="841248" y="4105656"/>
            <a:ext cx="585216" cy="58521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Ícono OpenFeign" descr="Ícono ex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251960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645920" y="4059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OpenFeign</a:t>
            </a:r>
            <a:endParaRPr lang="en-US" sz="1900" dirty="0"/>
          </a:p>
        </p:txBody>
      </p:sp>
      <p:sp>
        <p:nvSpPr>
          <p:cNvPr id="28" name="Text 23"/>
          <p:cNvSpPr txBox="1"/>
          <p:nvPr/>
        </p:nvSpPr>
        <p:spPr>
          <a:xfrm>
            <a:off x="164592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Comunicación HTTP entre microservicios</a:t>
            </a:r>
            <a:endParaRPr lang="en-US" sz="1500" dirty="0"/>
          </a:p>
        </p:txBody>
      </p:sp>
      <p:sp>
        <p:nvSpPr>
          <p:cNvPr id="29" name="Tarjeta RabbitMQ"/>
          <p:cNvSpPr/>
          <p:nvPr/>
        </p:nvSpPr>
        <p:spPr>
          <a:xfrm>
            <a:off x="640080" y="4974336"/>
            <a:ext cx="5852160" cy="89611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30" name="Ícono RabbitMQ fondo"/>
          <p:cNvSpPr/>
          <p:nvPr/>
        </p:nvSpPr>
        <p:spPr>
          <a:xfrm>
            <a:off x="841248" y="5129784"/>
            <a:ext cx="585216" cy="58521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1" name="Ícono RabbitMQ" descr="Ícono rabb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5276088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645920" y="50840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RabbitMQ</a:t>
            </a:r>
            <a:endParaRPr lang="en-US" sz="1900" dirty="0"/>
          </a:p>
        </p:txBody>
      </p:sp>
      <p:sp>
        <p:nvSpPr>
          <p:cNvPr id="33" name="Text 27"/>
          <p:cNvSpPr txBox="1"/>
          <p:nvPr/>
        </p:nvSpPr>
        <p:spPr>
          <a:xfrm>
            <a:off x="1645920" y="54589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Eventos asíncronos entre pedidos y facturación</a:t>
            </a:r>
            <a:endParaRPr lang="en-US" sz="1500" dirty="0"/>
          </a:p>
        </p:txBody>
      </p:sp>
      <p:sp>
        <p:nvSpPr>
          <p:cNvPr id="34" name="Tarjeta captura Eureka"/>
          <p:cNvSpPr/>
          <p:nvPr/>
        </p:nvSpPr>
        <p:spPr>
          <a:xfrm>
            <a:off x="6766560" y="2926080"/>
            <a:ext cx="4782312" cy="2926080"/>
          </a:xfrm>
          <a:prstGeom prst="roundRect">
            <a:avLst>
              <a:gd name="adj" fmla="val 4375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pic>
        <p:nvPicPr>
          <p:cNvPr id="35" name="Captura Eureka Server" descr="Panel de Eureka Server con los microservicios registrado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2" y="3108960"/>
            <a:ext cx="4453128" cy="2263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08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Seis microservicios, funciones separadas</a:t>
            </a:r>
            <a:endParaRPr lang="en-US" sz="3400" dirty="0"/>
          </a:p>
        </p:txBody>
      </p:sp>
      <p:sp>
        <p:nvSpPr>
          <p:cNvPr id="8" name="Tarjeta auth-service"/>
          <p:cNvSpPr/>
          <p:nvPr/>
        </p:nvSpPr>
        <p:spPr>
          <a:xfrm>
            <a:off x="640080" y="1920240"/>
            <a:ext cx="3456432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9" name="Ícono auth-service fondo"/>
          <p:cNvSpPr/>
          <p:nvPr/>
        </p:nvSpPr>
        <p:spPr>
          <a:xfrm>
            <a:off x="960120" y="202996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Ícono auth-service" descr="Ícono 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059" y="2226657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87552" y="2857033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auth-service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3159252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Usuarios y </a:t>
            </a:r>
            <a:r>
              <a:rPr lang="en-US" sz="1500" dirty="0" err="1">
                <a:solidFill>
                  <a:schemeClr val="accent6"/>
                </a:solidFill>
              </a:rPr>
              <a:t>acceso</a:t>
            </a:r>
            <a:endParaRPr lang="en-US" sz="1500" dirty="0">
              <a:solidFill>
                <a:schemeClr val="accent6"/>
              </a:solidFill>
            </a:endParaRPr>
          </a:p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Puerto: 8082</a:t>
            </a:r>
            <a:endParaRPr lang="en-US" sz="1500" dirty="0"/>
          </a:p>
        </p:txBody>
      </p:sp>
      <p:sp>
        <p:nvSpPr>
          <p:cNvPr id="13" name="Tarjeta catalog-service"/>
          <p:cNvSpPr/>
          <p:nvPr/>
        </p:nvSpPr>
        <p:spPr>
          <a:xfrm>
            <a:off x="4366260" y="1920240"/>
            <a:ext cx="3456432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4" name="Ícono catalog-service fondo"/>
          <p:cNvSpPr/>
          <p:nvPr/>
        </p:nvSpPr>
        <p:spPr>
          <a:xfrm>
            <a:off x="4686300" y="20167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Ícono catalog-service" descr="Ícono boo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180" y="21996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86300" y="28625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catalog-service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4686300" y="3182620"/>
            <a:ext cx="2926080" cy="401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Comidas y </a:t>
            </a:r>
            <a:r>
              <a:rPr lang="en-US" sz="1500" dirty="0" err="1">
                <a:solidFill>
                  <a:schemeClr val="accent6"/>
                </a:solidFill>
              </a:rPr>
              <a:t>categorías</a:t>
            </a:r>
            <a:endParaRPr lang="en-US" sz="1500" dirty="0">
              <a:solidFill>
                <a:schemeClr val="accent6"/>
              </a:solidFill>
            </a:endParaRPr>
          </a:p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Puerto: 8083</a:t>
            </a:r>
            <a:endParaRPr lang="en-US" sz="1500" dirty="0"/>
          </a:p>
        </p:txBody>
      </p:sp>
      <p:sp>
        <p:nvSpPr>
          <p:cNvPr id="18" name="Tarjeta operations-service"/>
          <p:cNvSpPr/>
          <p:nvPr/>
        </p:nvSpPr>
        <p:spPr>
          <a:xfrm>
            <a:off x="8092440" y="1920240"/>
            <a:ext cx="3456432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9" name="Ícono operations-service fondo"/>
          <p:cNvSpPr/>
          <p:nvPr/>
        </p:nvSpPr>
        <p:spPr>
          <a:xfrm>
            <a:off x="8412480" y="20320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Ícono operations-service" descr="Ícono chai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2148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12480" y="2849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operations-service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8412480" y="3177540"/>
            <a:ext cx="2926080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Mesas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Puerto: 80887</a:t>
            </a:r>
            <a:endParaRPr lang="en-US" sz="1500" dirty="0"/>
          </a:p>
        </p:txBody>
      </p:sp>
      <p:sp>
        <p:nvSpPr>
          <p:cNvPr id="23" name="Tarjeta order-service"/>
          <p:cNvSpPr/>
          <p:nvPr/>
        </p:nvSpPr>
        <p:spPr>
          <a:xfrm>
            <a:off x="640080" y="3977640"/>
            <a:ext cx="3456432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24" name="Ícono order-service fondo"/>
          <p:cNvSpPr/>
          <p:nvPr/>
        </p:nvSpPr>
        <p:spPr>
          <a:xfrm>
            <a:off x="960120" y="42062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Ícono order-service" descr="Ícono receip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3891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012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order-service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960120" y="5367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Pedidos e importes</a:t>
            </a:r>
            <a:endParaRPr lang="en-US" sz="1500" dirty="0"/>
          </a:p>
        </p:txBody>
      </p:sp>
      <p:sp>
        <p:nvSpPr>
          <p:cNvPr id="28" name="Tarjeta customer-service"/>
          <p:cNvSpPr/>
          <p:nvPr/>
        </p:nvSpPr>
        <p:spPr>
          <a:xfrm>
            <a:off x="4366260" y="3977640"/>
            <a:ext cx="3456432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29" name="Ícono customer-service fondo"/>
          <p:cNvSpPr/>
          <p:nvPr/>
        </p:nvSpPr>
        <p:spPr>
          <a:xfrm>
            <a:off x="4686300" y="42062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Ícono customer-service" descr="Ícono use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9180" y="438912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68630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customer-service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4686300" y="5367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Clientes</a:t>
            </a:r>
            <a:endParaRPr lang="en-US" sz="1500" dirty="0"/>
          </a:p>
        </p:txBody>
      </p:sp>
      <p:sp>
        <p:nvSpPr>
          <p:cNvPr id="33" name="Tarjeta billing-service"/>
          <p:cNvSpPr/>
          <p:nvPr/>
        </p:nvSpPr>
        <p:spPr>
          <a:xfrm>
            <a:off x="8092440" y="3977640"/>
            <a:ext cx="3456432" cy="1783080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34" name="Ícono billing-service fondo"/>
          <p:cNvSpPr/>
          <p:nvPr/>
        </p:nvSpPr>
        <p:spPr>
          <a:xfrm>
            <a:off x="8412480" y="4206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Ícono billing-service" descr="Ícono invoic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0" y="4389120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41248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billing-service</a:t>
            </a:r>
            <a:endParaRPr lang="en-US" sz="1900" dirty="0"/>
          </a:p>
        </p:txBody>
      </p:sp>
      <p:sp>
        <p:nvSpPr>
          <p:cNvPr id="37" name="Text 28"/>
          <p:cNvSpPr txBox="1"/>
          <p:nvPr/>
        </p:nvSpPr>
        <p:spPr>
          <a:xfrm>
            <a:off x="8412480" y="5367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Comprobantes y ventas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09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Interfaces: administración y mesero</a:t>
            </a:r>
            <a:endParaRPr lang="en-US" sz="3400" dirty="0"/>
          </a:p>
        </p:txBody>
      </p:sp>
      <p:sp>
        <p:nvSpPr>
          <p:cNvPr id="8" name="Tarjeta pantalla 1"/>
          <p:cNvSpPr/>
          <p:nvPr/>
        </p:nvSpPr>
        <p:spPr>
          <a:xfrm>
            <a:off x="640080" y="1874520"/>
            <a:ext cx="53218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pic>
        <p:nvPicPr>
          <p:cNvPr id="9" name="Captura Usuarios, roles y mantenimiento" descr="Pantalla de administración de usuarios y rol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384312"/>
            <a:ext cx="4937760" cy="23636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14400" y="5257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Usuarios, roles y mantenimiento</a:t>
            </a:r>
            <a:endParaRPr lang="en-US" sz="1700" dirty="0"/>
          </a:p>
        </p:txBody>
      </p:sp>
      <p:sp>
        <p:nvSpPr>
          <p:cNvPr id="11" name="Tarjeta pantalla 2"/>
          <p:cNvSpPr/>
          <p:nvPr/>
        </p:nvSpPr>
        <p:spPr>
          <a:xfrm>
            <a:off x="6227064" y="1874520"/>
            <a:ext cx="53218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pic>
        <p:nvPicPr>
          <p:cNvPr id="12" name="Captura Registro de pedidos por mesa" descr="Pantalla de registro de pedidos por mes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082458"/>
            <a:ext cx="4937760" cy="296740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501384" y="5257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Registro de pedidos por mesa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Interfaces: cocina y caja</a:t>
            </a:r>
            <a:endParaRPr lang="en-US" sz="3400" dirty="0"/>
          </a:p>
        </p:txBody>
      </p:sp>
      <p:sp>
        <p:nvSpPr>
          <p:cNvPr id="8" name="Tarjeta pantalla 1"/>
          <p:cNvSpPr/>
          <p:nvPr/>
        </p:nvSpPr>
        <p:spPr>
          <a:xfrm>
            <a:off x="640080" y="1874520"/>
            <a:ext cx="53218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pic>
        <p:nvPicPr>
          <p:cNvPr id="9" name="Captura Seguimiento del estado de pedidos" descr="Pantalla de seguimiento del estado de pedidos en cocin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187668"/>
            <a:ext cx="4937760" cy="275698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14400" y="5257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Seguimiento del estado de pedidos</a:t>
            </a:r>
            <a:endParaRPr lang="en-US" sz="1700" dirty="0"/>
          </a:p>
        </p:txBody>
      </p:sp>
      <p:sp>
        <p:nvSpPr>
          <p:cNvPr id="11" name="Tarjeta pantalla 2"/>
          <p:cNvSpPr/>
          <p:nvPr/>
        </p:nvSpPr>
        <p:spPr>
          <a:xfrm>
            <a:off x="6227064" y="1874520"/>
            <a:ext cx="53218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pic>
        <p:nvPicPr>
          <p:cNvPr id="12" name="Captura Cobros y comprobantes" descr="Pantalla de cobros y comprobantes en caj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375190"/>
            <a:ext cx="4937760" cy="23819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501384" y="5257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Cobros y comprobantes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Despliegue y persistencia</a:t>
            </a:r>
            <a:endParaRPr lang="en-US" sz="3400" dirty="0"/>
          </a:p>
        </p:txBody>
      </p:sp>
      <p:sp>
        <p:nvSpPr>
          <p:cNvPr id="8" name="Tarjeta MySQL"/>
          <p:cNvSpPr/>
          <p:nvPr/>
        </p:nvSpPr>
        <p:spPr>
          <a:xfrm>
            <a:off x="640080" y="1920240"/>
            <a:ext cx="2523744" cy="3749040"/>
          </a:xfrm>
          <a:prstGeom prst="roundRect">
            <a:avLst>
              <a:gd name="adj" fmla="val 5072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9" name="Ícono MySQL fondo"/>
          <p:cNvSpPr/>
          <p:nvPr/>
        </p:nvSpPr>
        <p:spPr>
          <a:xfrm>
            <a:off x="987552" y="2286000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Ícono MySQL" descr="Ícono mysq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25603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87552" y="3611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MySQL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987552" y="4343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Bases de datos por microservicio</a:t>
            </a:r>
            <a:endParaRPr lang="en-US" sz="1500" dirty="0"/>
          </a:p>
        </p:txBody>
      </p:sp>
      <p:sp>
        <p:nvSpPr>
          <p:cNvPr id="13" name="Tarjeta Docker"/>
          <p:cNvSpPr/>
          <p:nvPr/>
        </p:nvSpPr>
        <p:spPr>
          <a:xfrm>
            <a:off x="3435401" y="1920240"/>
            <a:ext cx="2523744" cy="3749040"/>
          </a:xfrm>
          <a:prstGeom prst="roundRect">
            <a:avLst>
              <a:gd name="adj" fmla="val 5072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4" name="Ícono Docker fondo"/>
          <p:cNvSpPr/>
          <p:nvPr/>
        </p:nvSpPr>
        <p:spPr>
          <a:xfrm>
            <a:off x="3782873" y="22860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Ícono Docker" descr="Ícono dock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193" y="25603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2873" y="3611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Docker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3782873" y="4343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Contenedores y ejecución reproducible</a:t>
            </a:r>
            <a:endParaRPr lang="en-US" sz="1500" dirty="0"/>
          </a:p>
        </p:txBody>
      </p:sp>
      <p:sp>
        <p:nvSpPr>
          <p:cNvPr id="18" name="Tarjeta Kubernetes"/>
          <p:cNvSpPr/>
          <p:nvPr/>
        </p:nvSpPr>
        <p:spPr>
          <a:xfrm>
            <a:off x="6230722" y="1920240"/>
            <a:ext cx="2523744" cy="3749040"/>
          </a:xfrm>
          <a:prstGeom prst="roundRect">
            <a:avLst>
              <a:gd name="adj" fmla="val 5072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9" name="Ícono Kubernetes fondo"/>
          <p:cNvSpPr/>
          <p:nvPr/>
        </p:nvSpPr>
        <p:spPr>
          <a:xfrm>
            <a:off x="6578194" y="2286000"/>
            <a:ext cx="1097280" cy="10972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Ícono Kubernetes" descr="Ícono k8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2514" y="256032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78194" y="3611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Kubernetes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6578194" y="4343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Despliegue, servicios y escalamiento</a:t>
            </a:r>
            <a:endParaRPr lang="en-US" sz="1500" dirty="0"/>
          </a:p>
        </p:txBody>
      </p:sp>
      <p:sp>
        <p:nvSpPr>
          <p:cNvPr id="23" name="Tarjeta Git y documentación"/>
          <p:cNvSpPr/>
          <p:nvPr/>
        </p:nvSpPr>
        <p:spPr>
          <a:xfrm>
            <a:off x="9026042" y="1920240"/>
            <a:ext cx="2523744" cy="3749040"/>
          </a:xfrm>
          <a:prstGeom prst="roundRect">
            <a:avLst>
              <a:gd name="adj" fmla="val 5072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24" name="Ícono Git y documentación fondo"/>
          <p:cNvSpPr/>
          <p:nvPr/>
        </p:nvSpPr>
        <p:spPr>
          <a:xfrm>
            <a:off x="9373514" y="2286000"/>
            <a:ext cx="1097280" cy="10972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Ícono Git y documentación" descr="Ícono g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7834" y="256032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373514" y="3611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Git y documentación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9373514" y="4343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accent6"/>
                </a:solidFill>
              </a:rPr>
              <a:t>Código, scripts SQL, README y manual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Alcance y siguientes pasos</a:t>
            </a:r>
            <a:endParaRPr lang="en-US" sz="3400" dirty="0"/>
          </a:p>
        </p:txBody>
      </p:sp>
      <p:sp>
        <p:nvSpPr>
          <p:cNvPr id="8" name="Tarjeta Incluye"/>
          <p:cNvSpPr/>
          <p:nvPr/>
        </p:nvSpPr>
        <p:spPr>
          <a:xfrm>
            <a:off x="640080" y="1920240"/>
            <a:ext cx="3419856" cy="36576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9" name="Ícono Incluye fondo"/>
          <p:cNvSpPr/>
          <p:nvPr/>
        </p:nvSpPr>
        <p:spPr>
          <a:xfrm>
            <a:off x="1005840" y="22860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Ícono Incluye" descr="Ícono 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5146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5840" y="33832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Incluye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425196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Mesas, pedidos, cocina, caja y control interno</a:t>
            </a:r>
            <a:endParaRPr lang="en-US" sz="1700" dirty="0"/>
          </a:p>
        </p:txBody>
      </p:sp>
      <p:sp>
        <p:nvSpPr>
          <p:cNvPr id="13" name="Tarjeta Fuera del alcance inicial"/>
          <p:cNvSpPr/>
          <p:nvPr/>
        </p:nvSpPr>
        <p:spPr>
          <a:xfrm>
            <a:off x="4384548" y="1920240"/>
            <a:ext cx="3419856" cy="36576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4" name="Ícono Fuera del alcance inicial fondo"/>
          <p:cNvSpPr/>
          <p:nvPr/>
        </p:nvSpPr>
        <p:spPr>
          <a:xfrm>
            <a:off x="4750308" y="228600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Ícono Fuera del alcance inicial" descr="Ícono ba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908" y="25146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0308" y="33832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Fuera del alcance inicial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4750308" y="425196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Delivery externo, pagos reales y emisión directa SUNAT</a:t>
            </a:r>
            <a:endParaRPr lang="en-US" sz="1700" dirty="0"/>
          </a:p>
        </p:txBody>
      </p:sp>
      <p:sp>
        <p:nvSpPr>
          <p:cNvPr id="18" name="Tarjeta Mejoras futuras"/>
          <p:cNvSpPr/>
          <p:nvPr/>
        </p:nvSpPr>
        <p:spPr>
          <a:xfrm>
            <a:off x="8129016" y="1920240"/>
            <a:ext cx="3419856" cy="36576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3B1511">
                <a:alpha val="16000"/>
              </a:srgbClr>
            </a:outerShdw>
          </a:effectLst>
        </p:spPr>
      </p:sp>
      <p:sp>
        <p:nvSpPr>
          <p:cNvPr id="19" name="Ícono Mejoras futuras fondo"/>
          <p:cNvSpPr/>
          <p:nvPr/>
        </p:nvSpPr>
        <p:spPr>
          <a:xfrm>
            <a:off x="8494776" y="228600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Ícono Mejoras futuras" descr="Ícono 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25146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94776" y="33832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Mejoras futuras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8494776" y="425196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Integraciones, pruebas y monitoreo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13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Conclusiones</a:t>
            </a:r>
            <a:endParaRPr lang="en-US" sz="3400" dirty="0"/>
          </a:p>
        </p:txBody>
      </p:sp>
      <p:sp>
        <p:nvSpPr>
          <p:cNvPr id="8" name="Tarjeta Operación digital"/>
          <p:cNvSpPr/>
          <p:nvPr/>
        </p:nvSpPr>
        <p:spPr>
          <a:xfrm>
            <a:off x="640080" y="1965960"/>
            <a:ext cx="3419856" cy="3566160"/>
          </a:xfrm>
          <a:prstGeom prst="roundRect">
            <a:avLst>
              <a:gd name="adj" fmla="val 3743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9" name="Ícono Operación digital fondo"/>
          <p:cNvSpPr/>
          <p:nvPr/>
        </p:nvSpPr>
        <p:spPr>
          <a:xfrm>
            <a:off x="1664208" y="233172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Ícono Operación digital" descr="Ícono cli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108" y="267462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393192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Operación digital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448056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2"/>
                </a:solidFill>
              </a:rPr>
              <a:t>Menos dependencia de comandas físicas</a:t>
            </a:r>
            <a:endParaRPr lang="en-US" sz="1700" dirty="0"/>
          </a:p>
        </p:txBody>
      </p:sp>
      <p:sp>
        <p:nvSpPr>
          <p:cNvPr id="13" name="Tarjeta Diseño modular"/>
          <p:cNvSpPr/>
          <p:nvPr/>
        </p:nvSpPr>
        <p:spPr>
          <a:xfrm>
            <a:off x="4384548" y="1965960"/>
            <a:ext cx="3419856" cy="3566160"/>
          </a:xfrm>
          <a:prstGeom prst="roundRect">
            <a:avLst>
              <a:gd name="adj" fmla="val 3743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4" name="Ícono Diseño modular fondo"/>
          <p:cNvSpPr/>
          <p:nvPr/>
        </p:nvSpPr>
        <p:spPr>
          <a:xfrm>
            <a:off x="5408676" y="233172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Ícono Diseño modular" descr="Ícono lay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1576" y="267462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58868" y="393192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Diseño modular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4750308" y="448056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2"/>
                </a:solidFill>
              </a:rPr>
              <a:t>Seis servicios con responsabilidades definidas</a:t>
            </a:r>
            <a:endParaRPr lang="en-US" sz="1700" dirty="0"/>
          </a:p>
        </p:txBody>
      </p:sp>
      <p:sp>
        <p:nvSpPr>
          <p:cNvPr id="18" name="Tarjeta Base tecnológica"/>
          <p:cNvSpPr/>
          <p:nvPr/>
        </p:nvSpPr>
        <p:spPr>
          <a:xfrm>
            <a:off x="8129016" y="1965960"/>
            <a:ext cx="3419856" cy="3566160"/>
          </a:xfrm>
          <a:prstGeom prst="roundRect">
            <a:avLst>
              <a:gd name="adj" fmla="val 3743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9" name="Ícono Base tecnológica fondo"/>
          <p:cNvSpPr/>
          <p:nvPr/>
        </p:nvSpPr>
        <p:spPr>
          <a:xfrm>
            <a:off x="9153144" y="233172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Ícono Base tecnológica" descr="Ícono shiel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044" y="2674620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03336" y="393192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Base tecnológica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8494776" y="448056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2"/>
                </a:solidFill>
              </a:rPr>
              <a:t>Seguridad por roles y despliegue escalable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"/>
          <p:cNvSpPr/>
          <p:nvPr/>
        </p:nvSpPr>
        <p:spPr>
          <a:xfrm>
            <a:off x="640080" y="45720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Motivo cubiertos" descr="Cubier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9496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SISTEMAWEBRESTAURANTE</a:t>
            </a:r>
            <a:endParaRPr lang="en-US" sz="1200" dirty="0"/>
          </a:p>
        </p:txBody>
      </p:sp>
      <p:sp>
        <p:nvSpPr>
          <p:cNvPr id="5" name="Número fondo"/>
          <p:cNvSpPr/>
          <p:nvPr/>
        </p:nvSpPr>
        <p:spPr>
          <a:xfrm>
            <a:off x="11064240" y="5989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6424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14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Recomendaciones</a:t>
            </a:r>
            <a:endParaRPr lang="en-US" sz="3400" dirty="0"/>
          </a:p>
        </p:txBody>
      </p:sp>
      <p:sp>
        <p:nvSpPr>
          <p:cNvPr id="8" name="Fila Documentación técnica"/>
          <p:cNvSpPr/>
          <p:nvPr/>
        </p:nvSpPr>
        <p:spPr>
          <a:xfrm>
            <a:off x="640080" y="1920240"/>
            <a:ext cx="10058400" cy="1188720"/>
          </a:xfrm>
          <a:prstGeom prst="roundRect">
            <a:avLst>
              <a:gd name="adj" fmla="val 10769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9" name="Ícono Documentación técnica fondo"/>
          <p:cNvSpPr/>
          <p:nvPr/>
        </p:nvSpPr>
        <p:spPr>
          <a:xfrm>
            <a:off x="914400" y="21031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Ícono Documentación técnica" descr="Ícono bo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23088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11680" y="2103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Documentación técnica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2011680" y="2578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bg1"/>
                </a:solidFill>
              </a:rPr>
              <a:t>Documentar API REST, eventos, colas y consumidores de RabbitMQ</a:t>
            </a:r>
            <a:endParaRPr lang="en-US" sz="1700" dirty="0"/>
          </a:p>
        </p:txBody>
      </p:sp>
      <p:sp>
        <p:nvSpPr>
          <p:cNvPr id="13" name="Fila Pruebas y protección"/>
          <p:cNvSpPr/>
          <p:nvPr/>
        </p:nvSpPr>
        <p:spPr>
          <a:xfrm>
            <a:off x="640080" y="3291840"/>
            <a:ext cx="10058400" cy="1188720"/>
          </a:xfrm>
          <a:prstGeom prst="roundRect">
            <a:avLst>
              <a:gd name="adj" fmla="val 10769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4" name="Ícono Pruebas y protección fondo"/>
          <p:cNvSpPr/>
          <p:nvPr/>
        </p:nvSpPr>
        <p:spPr>
          <a:xfrm>
            <a:off x="914400" y="34747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Ícono Pruebas y protección" descr="Ícono lo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36804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11680" y="3474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Pruebas y protección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39502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bg1"/>
                </a:solidFill>
              </a:rPr>
              <a:t>Probar pedidos, mesas y permisos; monitorear y respaldar datos</a:t>
            </a:r>
            <a:endParaRPr lang="en-US" sz="1700" dirty="0"/>
          </a:p>
        </p:txBody>
      </p:sp>
      <p:sp>
        <p:nvSpPr>
          <p:cNvPr id="18" name="Fila Despliegue y evolución"/>
          <p:cNvSpPr/>
          <p:nvPr/>
        </p:nvSpPr>
        <p:spPr>
          <a:xfrm>
            <a:off x="640080" y="4663440"/>
            <a:ext cx="10058400" cy="1188720"/>
          </a:xfrm>
          <a:prstGeom prst="roundRect">
            <a:avLst>
              <a:gd name="adj" fmla="val 10769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9" name="Ícono Despliegue y evolución fondo"/>
          <p:cNvSpPr/>
          <p:nvPr/>
        </p:nvSpPr>
        <p:spPr>
          <a:xfrm>
            <a:off x="914400" y="48463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Ícono Despliegue y evolución" descr="Ícono rocke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" y="50520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011680" y="48463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Despliegue y evolución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2011680" y="53218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bg1"/>
                </a:solidFill>
              </a:rPr>
              <a:t>Administrar Docker/Kubernetes y evaluar nuevas integraciones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taurante Sabor">
  <a:themeElements>
    <a:clrScheme name="Restaurante Sabor">
      <a:dk1>
        <a:srgbClr val="2B1B17"/>
      </a:dk1>
      <a:lt1>
        <a:srgbClr val="FFFFFF"/>
      </a:lt1>
      <a:dk2>
        <a:srgbClr val="3B1511"/>
      </a:dk2>
      <a:lt2>
        <a:srgbClr val="FDF0E9"/>
      </a:lt2>
      <a:accent1>
        <a:srgbClr val="B3261E"/>
      </a:accent1>
      <a:accent2>
        <a:srgbClr val="F4B13E"/>
      </a:accent2>
      <a:accent3>
        <a:srgbClr val="3F7D55"/>
      </a:accent3>
      <a:accent4>
        <a:srgbClr val="7A2430"/>
      </a:accent4>
      <a:accent5>
        <a:srgbClr val="D9622B"/>
      </a:accent5>
      <a:accent6>
        <a:srgbClr val="6B5750"/>
      </a:accent6>
      <a:hlink>
        <a:srgbClr val="B3261E"/>
      </a:hlink>
      <a:folHlink>
        <a:srgbClr val="7A2430"/>
      </a:folHlink>
    </a:clrScheme>
    <a:fontScheme name="Restaurante Sab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478</Words>
  <Application>Microsoft Office PowerPoint</Application>
  <PresentationFormat>Panorámica</PresentationFormat>
  <Paragraphs>153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Cambria</vt:lpstr>
      <vt:lpstr>Restaurante Sabor</vt:lpstr>
      <vt:lpstr>Sistema web para la gestión de pedidos, mesas y comprobantes de pago</vt:lpstr>
      <vt:lpstr>Problemática del restaurante</vt:lpstr>
      <vt:lpstr>¿De qué trata el proyecto?</vt:lpstr>
      <vt:lpstr>Flujo principal de atención</vt:lpstr>
      <vt:lpstr>Metodología de trabajo: Scrum</vt:lpstr>
      <vt:lpstr>Tecnologías utilizadas</vt:lpstr>
      <vt:lpstr>Arquitectura general</vt:lpstr>
      <vt:lpstr>Seis microservicios, funciones separadas</vt:lpstr>
      <vt:lpstr>Interfaces: administración y mesero</vt:lpstr>
      <vt:lpstr>Interfaces: cocina y caja</vt:lpstr>
      <vt:lpstr>Despliegue y persistencia</vt:lpstr>
      <vt:lpstr>Alcance y siguientes pasos</vt:lpstr>
      <vt:lpstr>Conclusiones</vt:lpstr>
      <vt:lpstr>Recomendaciones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web para la gestión de pedidos, mesas y comprobantes de pago</dc:title>
  <dc:subject>PptxGenJS Presentation</dc:subject>
  <dc:creator>Equipo SistemaWebRestaurante</dc:creator>
  <cp:lastModifiedBy>i201921067 (Rodriguez Contreras,Nick Fernando)</cp:lastModifiedBy>
  <cp:revision>2</cp:revision>
  <dcterms:created xsi:type="dcterms:W3CDTF">2026-10-25T15:34:37Z</dcterms:created>
  <dcterms:modified xsi:type="dcterms:W3CDTF">2026-10-25T16:36:48Z</dcterms:modified>
</cp:coreProperties>
</file>